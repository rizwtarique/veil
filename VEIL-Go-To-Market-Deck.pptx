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f066e76aff4402" /><Relationship Type="http://schemas.openxmlformats.org/officeDocument/2006/relationships/extended-properties" Target="/docProps/app.xml" Id="R3caa953729094599" /><Relationship Type="http://schemas.openxmlformats.org/officeDocument/2006/relationships/officeDocument" Target="/ppt/presentation.xml" Id="R3a611673a80743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ccc914e76d4a6f"/>
  </p:sldMasterIdLst>
  <p:notesMasterIdLst>
    <p:notesMasterId xmlns:r="http://schemas.openxmlformats.org/officeDocument/2006/relationships" r:id="Raed6b60459944458"/>
  </p:notesMasterIdLst>
  <p:sldIdLst>
    <p:sldId xmlns:r="http://schemas.openxmlformats.org/officeDocument/2006/relationships" id="256" r:id="Reaa05e0f2a5346a1"/>
    <p:sldId xmlns:r="http://schemas.openxmlformats.org/officeDocument/2006/relationships" id="257" r:id="R3db0a2d7a4274391"/>
    <p:sldId xmlns:r="http://schemas.openxmlformats.org/officeDocument/2006/relationships" id="258" r:id="R7c4f66b83ebb42bb"/>
    <p:sldId xmlns:r="http://schemas.openxmlformats.org/officeDocument/2006/relationships" id="259" r:id="Rdad32bf43da54884"/>
    <p:sldId xmlns:r="http://schemas.openxmlformats.org/officeDocument/2006/relationships" id="260" r:id="R01e540411db94336"/>
    <p:sldId xmlns:r="http://schemas.openxmlformats.org/officeDocument/2006/relationships" id="261" r:id="R65a55cde13ed48b6"/>
    <p:sldId xmlns:r="http://schemas.openxmlformats.org/officeDocument/2006/relationships" id="262" r:id="R027dc506e1814786"/>
    <p:sldId xmlns:r="http://schemas.openxmlformats.org/officeDocument/2006/relationships" id="263" r:id="Rb102d883c3144fd7"/>
    <p:sldId xmlns:r="http://schemas.openxmlformats.org/officeDocument/2006/relationships" id="264" r:id="R2f34740893f74baa"/>
    <p:sldId xmlns:r="http://schemas.openxmlformats.org/officeDocument/2006/relationships" id="265" r:id="Rf7334bdc0b9a4b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e6354150464395" /><Relationship Type="http://schemas.openxmlformats.org/officeDocument/2006/relationships/slideMaster" Target="/ppt/slideMasters/slideMaster1.xml" Id="R75ccc914e76d4a6f" /><Relationship Type="http://schemas.openxmlformats.org/officeDocument/2006/relationships/notesMaster" Target="/ppt/notesMasters/notesMaster1.xml" Id="Raed6b60459944458" /><Relationship Type="http://schemas.openxmlformats.org/officeDocument/2006/relationships/presProps" Target="/ppt/presProps.xml" Id="Rd59a898ff04745ca" /><Relationship Type="http://schemas.openxmlformats.org/officeDocument/2006/relationships/viewProps" Target="/ppt/viewProps.xml" Id="Rf503578240d94ae4" /><Relationship Type="http://schemas.openxmlformats.org/officeDocument/2006/relationships/tableStyles" Target="/ppt/tableStyles.xml" Id="R11e762f6b6094433" /><Relationship Type="http://schemas.openxmlformats.org/officeDocument/2006/relationships/slide" Target="/ppt/slides/slide1.xml" Id="Reaa05e0f2a5346a1" /><Relationship Type="http://schemas.openxmlformats.org/officeDocument/2006/relationships/slide" Target="/ppt/slides/slide2.xml" Id="R3db0a2d7a4274391" /><Relationship Type="http://schemas.openxmlformats.org/officeDocument/2006/relationships/slide" Target="/ppt/slides/slide3.xml" Id="R7c4f66b83ebb42bb" /><Relationship Type="http://schemas.openxmlformats.org/officeDocument/2006/relationships/slide" Target="/ppt/slides/slide4.xml" Id="Rdad32bf43da54884" /><Relationship Type="http://schemas.openxmlformats.org/officeDocument/2006/relationships/slide" Target="/ppt/slides/slide5.xml" Id="R01e540411db94336" /><Relationship Type="http://schemas.openxmlformats.org/officeDocument/2006/relationships/slide" Target="/ppt/slides/slide6.xml" Id="R65a55cde13ed48b6" /><Relationship Type="http://schemas.openxmlformats.org/officeDocument/2006/relationships/slide" Target="/ppt/slides/slide7.xml" Id="R027dc506e1814786" /><Relationship Type="http://schemas.openxmlformats.org/officeDocument/2006/relationships/slide" Target="/ppt/slides/slide8.xml" Id="Rb102d883c3144fd7" /><Relationship Type="http://schemas.openxmlformats.org/officeDocument/2006/relationships/slide" Target="/ppt/slides/slide9.xml" Id="R2f34740893f74baa" /><Relationship Type="http://schemas.openxmlformats.org/officeDocument/2006/relationships/slide" Target="/ppt/slides/slide10.xml" Id="Rf7334bdc0b9a4b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64fbbfaac640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7a593c2ea44e48" /><Relationship Type="http://schemas.openxmlformats.org/officeDocument/2006/relationships/notesMaster" Target="/ppt/notesMasters/notesMaster1.xml" Id="R717444dcda4b43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157abbced04cad" /><Relationship Type="http://schemas.openxmlformats.org/officeDocument/2006/relationships/notesMaster" Target="/ppt/notesMasters/notesMaster1.xml" Id="Rfa3bd1fc906b41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d611e1b73642ee" /><Relationship Type="http://schemas.openxmlformats.org/officeDocument/2006/relationships/notesMaster" Target="/ppt/notesMasters/notesMaster1.xml" Id="Rd2a1bec9220040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ea9da91f364f79" /><Relationship Type="http://schemas.openxmlformats.org/officeDocument/2006/relationships/notesMaster" Target="/ppt/notesMasters/notesMaster1.xml" Id="Re0c2e9ab41b841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8618cf477b4d1d" /><Relationship Type="http://schemas.openxmlformats.org/officeDocument/2006/relationships/notesMaster" Target="/ppt/notesMasters/notesMaster1.xml" Id="R0fbbab4581074b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11a650c4ac472b" /><Relationship Type="http://schemas.openxmlformats.org/officeDocument/2006/relationships/notesMaster" Target="/ppt/notesMasters/notesMaster1.xml" Id="R850cc1d55d0948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a9a3f8f0c742c6" /><Relationship Type="http://schemas.openxmlformats.org/officeDocument/2006/relationships/notesMaster" Target="/ppt/notesMasters/notesMaster1.xml" Id="Rb3fd1495ff494b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6a90f0e1fb4bc1" /><Relationship Type="http://schemas.openxmlformats.org/officeDocument/2006/relationships/notesMaster" Target="/ppt/notesMasters/notesMaster1.xml" Id="Re0fce20bbabd48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88ab4c46f44a80" /><Relationship Type="http://schemas.openxmlformats.org/officeDocument/2006/relationships/notesMaster" Target="/ppt/notesMasters/notesMaster1.xml" Id="R4f0d5758c9a14a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7296e22c9c4e52" /><Relationship Type="http://schemas.openxmlformats.org/officeDocument/2006/relationships/notesMaster" Target="/ppt/notesMasters/notesMaster1.xml" Id="Rbe6ae04315d341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553bf9857747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0c391d656c44c2" /><Relationship Type="http://schemas.openxmlformats.org/officeDocument/2006/relationships/slideLayout" Target="/ppt/slideLayouts/slideLayout1.xml" Id="R2744bb35ed6c4f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44bb35ed6c4f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625decc764c74" /><Relationship Type="http://schemas.openxmlformats.org/officeDocument/2006/relationships/notesSlide" Target="/ppt/notesSlides/notesSlide1.xml" Id="R9be161630be64e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1b9b5672b40c4" /><Relationship Type="http://schemas.openxmlformats.org/officeDocument/2006/relationships/notesSlide" Target="/ppt/notesSlides/notesSlide2.xml" Id="Rc30f944a12234f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2526de05e4e4e" /><Relationship Type="http://schemas.openxmlformats.org/officeDocument/2006/relationships/notesSlide" Target="/ppt/notesSlides/notesSlide3.xml" Id="Rea399dc0ef3543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728ce2851445a" /><Relationship Type="http://schemas.openxmlformats.org/officeDocument/2006/relationships/notesSlide" Target="/ppt/notesSlides/notesSlide4.xml" Id="R8e67f58c1ebc4f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0b26f92754192" /><Relationship Type="http://schemas.openxmlformats.org/officeDocument/2006/relationships/notesSlide" Target="/ppt/notesSlides/notesSlide5.xml" Id="R807d65905b7941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05583792e4fc3" /><Relationship Type="http://schemas.openxmlformats.org/officeDocument/2006/relationships/notesSlide" Target="/ppt/notesSlides/notesSlide6.xml" Id="Rd2aab0d99f1c45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f414751c44ba2" /><Relationship Type="http://schemas.openxmlformats.org/officeDocument/2006/relationships/notesSlide" Target="/ppt/notesSlides/notesSlide7.xml" Id="R85043471fc8f41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a7c5ba6a34a07" /><Relationship Type="http://schemas.openxmlformats.org/officeDocument/2006/relationships/notesSlide" Target="/ppt/notesSlides/notesSlide8.xml" Id="Rd416d778e7db4e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6ff971e324106" /><Relationship Type="http://schemas.openxmlformats.org/officeDocument/2006/relationships/notesSlide" Target="/ppt/notesSlides/notesSlide9.xml" Id="Re0de78e6e03544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9f0cb476e4615" /><Relationship Type="http://schemas.openxmlformats.org/officeDocument/2006/relationships/notesSlide" Target="/ppt/notesSlides/notesSlide10.xml" Id="Ref46298975264b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2A6812-2188-42EE-9DFF-57837382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91D8DA4E-F5C3-465F-9707-565B5EAC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960526B5-2F98-4EFF-A55C-75B2A297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9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EB9AE"/>
                </a:solidFill>
                <a:latin typeface="Aptos"/>
                <a:ea typeface="Aptos"/>
                <a:cs typeface="Aptos"/>
              </a:rPr>
              <a:t>GO-TO-MARKET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507754-62EB-4CBD-890B-D86A0704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VEIL turns unmanaged AI usage into governed AI adoption.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1584D-023E-41F9-B682-BCF67756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6572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5D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DE5DA"/>
                </a:solidFill>
                <a:latin typeface="Aptos"/>
                <a:ea typeface="Aptos"/>
                <a:cs typeface="Aptos"/>
              </a:rPr>
              <a:t>A real-time prompt security layer for enterprises where employees already use ChatGPT, Gemini, Claude, and other AI tools.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59ECC-74C8-433A-A454-9D5B8129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6572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9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9AE"/>
                </a:solidFill>
                <a:latin typeface="Aptos"/>
                <a:ea typeface="Aptos"/>
                <a:cs typeface="Aptos"/>
              </a:rPr>
              <a:t>Wedge: Chrome extension + risk scoring + incident visibility. Expansion: DLP policies, SSO, compliance reporting, and AI governance controls.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03799-8B1E-49AF-8022-7757537C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09600"/>
            <a:ext cx="14288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84314-471C-4C9B-8CE1-75D6FE01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668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53D18C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53D18C"/>
                </a:solidFill>
                <a:latin typeface="Aptos Display"/>
                <a:ea typeface="Aptos Display"/>
                <a:cs typeface="Aptos Display"/>
              </a:rPr>
              <a:t>45%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E2AFF-8925-4645-B530-66D5B02A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62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5D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5DA"/>
                </a:solidFill>
                <a:latin typeface="Aptos"/>
                <a:ea typeface="Aptos"/>
                <a:cs typeface="Aptos"/>
              </a:rPr>
              <a:t>enterprise employees using GenAI tools in a 2025 LayerX-reported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78E8F-6C94-48DE-8204-1C488B7D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908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B860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4B860"/>
                </a:solidFill>
                <a:latin typeface="Aptos Display"/>
                <a:ea typeface="Aptos Display"/>
                <a:cs typeface="Aptos Display"/>
              </a:rPr>
              <a:t>77%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8C6DC-8C8D-405B-BC04-9953D97B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5D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5DA"/>
                </a:solidFill>
                <a:latin typeface="Aptos"/>
                <a:ea typeface="Aptos"/>
                <a:cs typeface="Aptos"/>
              </a:rPr>
              <a:t>of GenAI users regularly paste data into AI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BEE00-A0E8-445F-A988-02B68B58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6B5F"/>
                </a:solidFill>
                <a:latin typeface="Aptos Display"/>
                <a:ea typeface="Aptos Display"/>
                <a:cs typeface="Aptos Display"/>
              </a:rPr>
              <a:t>4%+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6AD88-8671-4158-96D6-CE68FC0A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01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5D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5DA"/>
                </a:solidFill>
                <a:latin typeface="Aptos"/>
                <a:ea typeface="Aptos"/>
                <a:cs typeface="Aptos"/>
              </a:rPr>
              <a:t>of GenAI prompts contained sensitive corporate data in Harmonic's Q2 2025 sample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DAA0C-7393-42F7-BD16-E70F2EE6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7908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79087"/>
                </a:solidFill>
                <a:latin typeface="Aptos"/>
                <a:ea typeface="Aptos"/>
                <a:cs typeface="Aptos"/>
              </a:rPr>
              <a:t>Sources: VEIL README; LayerX report summary via TechRadar; Harmonic Security reporting via Axios.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823B8-6966-4A2D-8191-78E04E6E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7908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7908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27243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FCF2B8-FA91-4EEA-86D6-A4AFBB00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2E86DA9E-C656-4456-A487-6F5ABFF3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EE42E0C4-F7E1-4197-A45F-B2F70939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BUYER PAIN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E7125-6868-4B9D-B1F9-11A8D639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810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419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419"/>
                </a:solidFill>
                <a:latin typeface="Aptos Display"/>
                <a:ea typeface="Aptos Display"/>
                <a:cs typeface="Aptos Display"/>
              </a:rPr>
              <a:t>The breach path starts before the model ever sees the prompt.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0C2D7-83B6-43F4-915C-9C924AFD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756F"/>
                </a:solidFill>
                <a:latin typeface="Aptos"/>
                <a:ea typeface="Aptos"/>
                <a:cs typeface="Aptos"/>
              </a:rPr>
              <a:t>Shadow AI risk is not only model behavior. It begins with the human copy/paste moment where credentials, PII, customer data, and internal docs leave controlled systems.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58056-6A64-4B5B-917E-698FB6DF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469A4-DFC7-45C0-B0B1-A67C1740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88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419"/>
                </a:solidFill>
                <a:latin typeface="Aptos"/>
                <a:ea typeface="Aptos"/>
                <a:cs typeface="Aptos"/>
              </a:rPr>
              <a:t>Employee drafts prompt</a:t>
            </a:r>
          </a:p>
          <a:p xmlns:a="http://schemas.openxmlformats.org/drawingml/2006/main">
            <a:pPr algn="l">
              <a:defRPr sz="1275" b="0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419"/>
                </a:solidFill>
                <a:latin typeface="Aptos"/>
                <a:ea typeface="Aptos"/>
                <a:cs typeface="Aptos"/>
              </a:rPr>
              <a:t>Intent: move faster with AI.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F500D-8DE8-440B-BD62-41CC2FB7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623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8BD31-7D68-4B5B-B25D-74347DCC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6225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1"/>
          </a:solidFill>
          <a:ln xmlns:a="http://schemas.openxmlformats.org/drawingml/2006/main" w="9525">
            <a:solidFill>
              <a:srgbClr val="FF6B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041FC-1CB6-4B9B-A135-19014EFE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895600"/>
            <a:ext cx="188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Sensitive data enters</a:t>
            </a:r>
          </a:p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API keys, credentials, PII, customer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58CCA-63CD-43FD-A9DD-178FBD0D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3623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01FB4-19EC-47D2-84A2-57DAC254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1"/>
          </a:solidFill>
          <a:ln xmlns:a="http://schemas.openxmlformats.org/drawingml/2006/main" w="9525">
            <a:solidFill>
              <a:srgbClr val="FF6B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9C39C-611B-4E1D-BF38-951653C0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188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Public AI tool receives it</a:t>
            </a:r>
          </a:p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Low visibility, personal accounts, weak audit trail.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FBF62-8BA2-44B8-BCEA-1608B278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623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82B81-9811-467D-B489-035BF16B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6225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555EA-C221-49DF-83EC-F998E271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95600"/>
            <a:ext cx="188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419"/>
                </a:solidFill>
                <a:latin typeface="Aptos"/>
                <a:ea typeface="Aptos"/>
                <a:cs typeface="Aptos"/>
              </a:rPr>
              <a:t>SecOps learns later</a:t>
            </a:r>
          </a:p>
          <a:p xmlns:a="http://schemas.openxmlformats.org/drawingml/2006/main">
            <a:pPr algn="l">
              <a:defRPr sz="1275" b="0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419"/>
                </a:solidFill>
                <a:latin typeface="Aptos"/>
                <a:ea typeface="Aptos"/>
                <a:cs typeface="Aptos"/>
              </a:rPr>
              <a:t>Incident response without prompt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71706-BBB1-4B27-A180-CEF24E4A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91050"/>
            <a:ext cx="619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9"/>
          </a:solidFill>
          <a:ln xmlns:a="http://schemas.openxmlformats.org/drawingml/2006/main" w="9525">
            <a:solidFill>
              <a:srgbClr val="10141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7FDA45-037A-4C32-A2B9-063D9EE7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724400"/>
            <a:ext cx="5886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VEIL intervention point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Detect, score, warn, sanitize, log before data leaves the browser.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655BB-11CE-420B-83BC-3089B796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81450"/>
            <a:ext cx="2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790EE-24D7-454A-B5E9-CA52A67C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5807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58071"/>
                </a:solidFill>
                <a:latin typeface="Aptos"/>
                <a:ea typeface="Aptos"/>
                <a:cs typeface="Aptos"/>
              </a:rPr>
              <a:t>README problem statement: sensitive info pasted into AI systems creates security and compliance risk.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F78BE-CD58-4DAE-9C17-536AAD2D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0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65442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AF78CE-AB53-4D38-8B32-5B2D81A7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2DF5C634-1686-47B8-9F9E-86C66C9B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3354CB7F-FF7F-4D0D-80E9-2CD4389F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PRODUCT WEDGE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93BE3-1CFC-4BE6-BBD9-C0F6D4EA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620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419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1419"/>
                </a:solidFill>
                <a:latin typeface="Aptos Display"/>
                <a:ea typeface="Aptos Display"/>
                <a:cs typeface="Aptos Display"/>
              </a:rPr>
              <a:t>Prompt-side protection is the fastest deployable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B9DA9-6BEE-4DBC-80F2-CE67EFB8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756F"/>
                </a:solidFill>
                <a:latin typeface="Aptos"/>
                <a:ea typeface="Aptos"/>
                <a:cs typeface="Aptos"/>
              </a:rPr>
              <a:t>VEIL does not ask teams to abandon the AI tools they already use. It inserts a lightweight security layer at the point of prompt creation.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AFAF6-738C-4FE2-B43F-4E83E7A0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58F94-EB4A-448D-AFD7-8963766D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1855F-10E8-41D8-BC04-A39C5BB2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E49AD-DCEE-499C-8B41-14D5CE3E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Inspect</a:t>
            </a:r>
          </a:p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Real-time prompt inspection in browser extension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B75D6-0052-42F3-9A4B-B92C2F4C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09DD8-D0E7-4DB4-9AE9-C78877DB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813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3EBE8-1352-4DCB-A046-56357B11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575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ECFBD-2E65-478B-80C6-BED2C7BB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39090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ED8FD-7EE1-49D8-B34B-9BAE9757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52425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Detect</a:t>
            </a:r>
          </a:p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AWS keys, API keys, email, phone, sensitive patterns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FEBEA-D448-4251-8CBC-FF639400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6195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ACDD9-3EFC-46A0-8233-B95E5008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AF334-FACD-428F-8568-90B4EA89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41C00-93F3-4146-A517-C92C56E8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9090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4013F-FEED-4922-B998-67BB796B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2425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Score</a:t>
            </a:r>
          </a:p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Risk score converts raw findings into action level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74CF3A-946C-4262-8A12-820D239E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25694-24E2-48A9-A928-F55E6CDC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813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0CF84-9734-4CBE-97C5-B9BD03A8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8575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B3D3D3-1363-48F2-B78E-2EBEB58F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9090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8"/>
          </a:solidFill>
          <a:ln xmlns:a="http://schemas.openxmlformats.org/drawingml/2006/main" w="9525">
            <a:solidFill>
              <a:srgbClr val="53D18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4921A4-0D54-4BED-BCFF-A66059D8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52425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Act</a:t>
            </a:r>
          </a:p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Warn user, sanitize content, log incident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35E505-8E24-46F1-8FAB-D0076CC4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9"/>
          </a:solidFill>
          <a:ln xmlns:a="http://schemas.openxmlformats.org/drawingml/2006/main" w="9525">
            <a:solidFill>
              <a:srgbClr val="10141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A16B4B-B92A-4EDA-98AA-5C504B91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76850"/>
            <a:ext cx="681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 team sees dashboard, incidents, analytics, and reporting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0468F2-2F71-4907-AEAB-5B4CFB7E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5807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58071"/>
                </a:solidFill>
                <a:latin typeface="Aptos"/>
                <a:ea typeface="Aptos"/>
                <a:cs typeface="Aptos"/>
              </a:rPr>
              <a:t>README solution/features: inspection, detections, risk scoring, warning, sanitization, incident logging, dashboard.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88A281-3C41-4F8B-B554-9CA94E1E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0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00568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B1EDFE-6DBD-4B13-B29B-15B70592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93861B55-937D-4501-8D00-CA10A37D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728FBA3A-1BE4-474F-A809-E3E524D1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ICP PRIORITY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57F0A-A66A-4C3A-9B20-218A162B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419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01419"/>
                </a:solidFill>
                <a:latin typeface="Aptos Display"/>
                <a:ea typeface="Aptos Display"/>
                <a:cs typeface="Aptos Display"/>
              </a:rPr>
              <a:t>The first beachhead is AI-heavy mid-market teams with lean SecOps.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84E4E-3AD5-49A1-AE62-E0454F7F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401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C81D7-7428-4004-9451-94D1C785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Segment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9E474-5980-4F75-8569-20E17393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383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Pain intensity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22D54-BE42-42D9-9CE8-3BE18ED6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8375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Why VEIL wins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3DA0A-90C7-4783-8646-84D70A16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3837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First buyer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C0536-FC99-4F3D-8661-AAC1D2F1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0401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B965C-E74E-430C-9C6E-7F7E8A19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622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Software /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3FB04-234A-427A-9996-28C4F41A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622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6B5F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28AB7-83F5-4A66-B30E-3C13ED74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62275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419"/>
                </a:solidFill>
                <a:latin typeface="Aptos"/>
                <a:ea typeface="Aptos"/>
                <a:cs typeface="Aptos"/>
              </a:rPr>
              <a:t>Developers paste code, logs, credentials, and API keys.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158AA-CD0E-476A-8C1E-58084586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6227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419"/>
                </a:solidFill>
                <a:latin typeface="Aptos"/>
                <a:ea typeface="Aptos"/>
                <a:cs typeface="Aptos"/>
              </a:rPr>
              <a:t>Security / Eng leaders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8079E-9D20-4548-BCCE-E433CAA2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401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CA846-4617-40CC-90D6-7C6AA46A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BPO / Support 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C8882-1A9F-4F07-ACC0-65C0F7F0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861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6B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6B5F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74AE0-57E8-4D1F-B968-C2B681D8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86175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419"/>
                </a:solidFill>
                <a:latin typeface="Aptos"/>
                <a:ea typeface="Aptos"/>
                <a:cs typeface="Aptos"/>
              </a:rPr>
              <a:t>Agents handle customer PII while using AI assistance.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90F2B-AAE5-46A2-BBA6-B44FDEC3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8617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419"/>
                </a:solidFill>
                <a:latin typeface="Aptos"/>
                <a:ea typeface="Aptos"/>
                <a:cs typeface="Aptos"/>
              </a:rPr>
              <a:t>CISO /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C90C24-E096-4333-84B4-CC85C2C5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401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85CF0-B9EA-4189-99E7-15F65954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Agencies / Consulting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060238-9996-4C5D-A1B9-37124027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100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419"/>
                </a:solidFill>
                <a:latin typeface="Aptos"/>
                <a:ea typeface="Aptos"/>
                <a:cs typeface="Aptos"/>
              </a:rPr>
              <a:t>Medium-high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D7779F-0D84-41F6-8CBF-84174E5B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10075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419"/>
                </a:solidFill>
                <a:latin typeface="Aptos"/>
                <a:ea typeface="Aptos"/>
                <a:cs typeface="Aptos"/>
              </a:rPr>
              <a:t>Client docs enter public tools across distributed teams.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A3B8A5-6C2D-457C-8956-6E9B9E9B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1007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419"/>
                </a:solidFill>
                <a:latin typeface="Aptos"/>
                <a:ea typeface="Aptos"/>
                <a:cs typeface="Aptos"/>
              </a:rPr>
              <a:t>Founder / 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75A0D-8EE5-4E0D-89EB-8F0BF7BE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401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22818F-AA7F-40DD-8894-BD2B42E9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339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Regulated SMB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8A519-E7FF-41D2-B406-9FFFF711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339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419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E3F33E-D67B-4D0E-9C06-1E46A260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33975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419"/>
                </a:solidFill>
                <a:latin typeface="Aptos"/>
                <a:ea typeface="Aptos"/>
                <a:cs typeface="Aptos"/>
              </a:rPr>
              <a:t>Compliance pressure, but slower procurement.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B5D723-3047-4C6D-A5F2-3DFF4DA7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3397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419"/>
                </a:solidFill>
                <a:latin typeface="Aptos"/>
                <a:ea typeface="Aptos"/>
                <a:cs typeface="Aptos"/>
              </a:rPr>
              <a:t>Compliance / 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D2713E-4678-47C0-9ED8-8631A870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401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80C003-D893-4873-B6B5-CFACA42A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5807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58071"/>
                </a:solidFill>
                <a:latin typeface="Aptos"/>
                <a:ea typeface="Aptos"/>
                <a:cs typeface="Aptos"/>
              </a:rPr>
              <a:t>ICP is GTM synthesis from VEIL's prompt-inspection/security-dashboard product shape; no customer traction published in repo.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08564F-568B-4FB8-AB06-A26F6EDE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0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582431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0CD864-6225-4465-B2CE-72DF17E7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9FF9DFB0-C114-4CB4-9A1A-4D9F6062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89011909-302E-4BAC-8838-3E79E783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9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EB9AE"/>
                </a:solidFill>
                <a:latin typeface="Aptos"/>
                <a:ea typeface="Aptos"/>
                <a:cs typeface="Aptos"/>
              </a:rPr>
              <a:t>GROWTH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876B8-36F9-43FD-8CAF-58E1B659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GTM loop converts employee nudges into security-team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7592B-3D4C-4DB1-8D07-7FB8F248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9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9AE"/>
                </a:solidFill>
                <a:latin typeface="Aptos"/>
                <a:ea typeface="Aptos"/>
                <a:cs typeface="Aptos"/>
              </a:rPr>
              <a:t>VEIL's best early proof is not page views. It is risky prompt attempts prevented, sanitized, or routed into incident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D7BEE-1A21-481D-AD9F-86ADAD9E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813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2"/>
          </a:solidFill>
          <a:ln xmlns:a="http://schemas.openxmlformats.org/drawingml/2006/main" w="9525">
            <a:solidFill>
              <a:srgbClr val="3840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71ED9-E5E0-42BE-91DA-B95E450A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14650"/>
            <a:ext cx="2171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Seed extension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Deploy to a focused team already using public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4207A-846C-4A2E-97C6-C8B882F7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2"/>
          </a:solidFill>
          <a:ln xmlns:a="http://schemas.openxmlformats.org/drawingml/2006/main" w="9525">
            <a:solidFill>
              <a:srgbClr val="384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5A4C7-2FB0-4DD2-BD37-FA13F928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2171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Intercept prompts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Detect secrets before the AI site receives them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0390B-1DEC-4F71-B1A4-C4D63DBA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D22"/>
          </a:solidFill>
          <a:ln xmlns:a="http://schemas.openxmlformats.org/drawingml/2006/main" w="9525">
            <a:solidFill>
              <a:srgbClr val="3840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1FF36-62F6-49F8-8E87-28995751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14650"/>
            <a:ext cx="2171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Nudge behavior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Warn users and sanitize high-risk content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75469-8383-482E-8AAA-6D1C6E67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8"/>
          </a:solidFill>
          <a:ln xmlns:a="http://schemas.openxmlformats.org/drawingml/2006/main" w="9525">
            <a:solidFill>
              <a:srgbClr val="53D18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37E45-935F-44EC-BF45-72E5D008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95850"/>
            <a:ext cx="2171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4. Prove value</a:t>
            </a:r>
          </a:p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Dashboard shows incidents, patterns, and avoided exposure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46DC5-ABE8-41C7-BF81-2775BFD8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194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5E481-8C7D-490F-A9B6-2F910BB5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24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63B00-A8B3-409F-812D-6C56D11F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285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86E41-BC19-4DF0-B9B0-BD61BFCD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006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B93CA-D3A2-4AA8-A158-3C9A3556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05375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F"/>
          </a:solidFill>
          <a:ln xmlns:a="http://schemas.openxmlformats.org/drawingml/2006/main" w="9525">
            <a:solidFill>
              <a:srgbClr val="3840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8E34E-7B36-46EA-8FB9-2906893D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38725"/>
            <a:ext cx="3124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DE5D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DE5DA"/>
                </a:solidFill>
                <a:latin typeface="Aptos"/>
                <a:ea typeface="Aptos"/>
                <a:cs typeface="Aptos"/>
              </a:rPr>
              <a:t>Expansion trigger</a:t>
            </a:r>
          </a:p>
          <a:p xmlns:a="http://schemas.openxmlformats.org/drawingml/2006/main">
            <a:pPr algn="l">
              <a:defRPr sz="1200" b="1">
                <a:solidFill>
                  <a:srgbClr val="DDE5D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DE5DA"/>
                </a:solidFill>
                <a:latin typeface="Aptos"/>
                <a:ea typeface="Aptos"/>
                <a:cs typeface="Aptos"/>
              </a:rPr>
              <a:t>A weekly executive report shows top risky prompts, users, departments, and tools.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E451B-A703-4330-95D6-E4C4E582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7908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79087"/>
                </a:solidFill>
                <a:latin typeface="Aptos"/>
                <a:ea typeface="Aptos"/>
                <a:cs typeface="Aptos"/>
              </a:rPr>
              <a:t>GTM loop connects VEIL's extension, risk scoring, dashboard, incident management, analytics, and reporting features.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619499-F491-4F4C-8B96-C5CF2E6F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7908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7908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782045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A014E5-7455-45A5-BB8D-8F55A7E4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F8868003-979E-48C4-8262-DDA83FA1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FC80403D-BE84-4EF9-90D3-3B32586B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PACKAGING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4DC95-D0A7-497D-96E5-1636757B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90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419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01419"/>
                </a:solidFill>
                <a:latin typeface="Aptos Display"/>
                <a:ea typeface="Aptos Display"/>
                <a:cs typeface="Aptos Display"/>
              </a:rPr>
              <a:t>Packaging should start simple, then expand into governance.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1BAE4-EEB2-41DC-8F69-443D8A2F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762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756F"/>
                </a:solidFill>
                <a:latin typeface="Aptos"/>
                <a:ea typeface="Aptos"/>
                <a:cs typeface="Aptos"/>
              </a:rPr>
              <a:t>The commercial path should match adoption friction: free pilot for risk discovery, paid team controls, then enterprise governance.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94EE2-6652-407C-8E90-DF496E1D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8098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AE05C-C5B6-4172-8485-A1404471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250507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Pilot</a:t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$0 / 14 days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Chrome extension</a:t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Basic detectors</a:t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Risk report export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BF5BB-EF06-4E92-8193-8F4B1BD6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67300"/>
            <a:ext cx="2152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4B6DD-D39C-4DEF-B623-A8B1E19D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28098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8"/>
          </a:solidFill>
          <a:ln xmlns:a="http://schemas.openxmlformats.org/drawingml/2006/main" w="9525">
            <a:solidFill>
              <a:srgbClr val="53D18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E2E46-FD37-4A56-A388-49910489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250507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Team</a:t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Per seat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Dashboard</a:t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Incident workflow</a:t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Custom thresholds</a:t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C9CF5-F0FE-4C77-B4EB-FA464A79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67300"/>
            <a:ext cx="2152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BE1CB-A993-413F-9D65-2282131A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8098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CFF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B72F0-9963-4F70-B3BF-A951D121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05100"/>
            <a:ext cx="250507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Enterprise</a:t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Platform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SSO</a:t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DLP policies</a:t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Slack/Teams</a:t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Compliance reporting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946B8-CB62-4772-B493-A00D37EF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67300"/>
            <a:ext cx="2152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A26DD-AE4C-4109-B7DC-8E1C83FC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581650"/>
            <a:ext cx="638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Pricing metric to test: protected users first; governance modules second.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F0D38-A1B4-4D65-8FD3-4F22BFC7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5807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58071"/>
                </a:solidFill>
                <a:latin typeface="Aptos"/>
                <a:ea typeface="Aptos"/>
                <a:cs typeface="Aptos"/>
              </a:rPr>
              <a:t>Packaging is GTM recommendation. Roadmap items from README include Slack, Teams, SSO, DLP, governance controls, compliance reporting.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663C9-2376-4342-BBBD-696CA610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07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75315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AF6B91-9A5D-471B-98BB-E8AC1AF8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74E61BF9-C1E4-4A53-AFC4-7AB24489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5177BCE8-3143-4749-A057-7AE0A643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9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EB9AE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2ACDA9-9A49-4D92-968D-EABF8ED7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architecture is already shaped for enterprise controls.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7875A-E01C-43DC-8C7C-F23F8021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7620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9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9AE"/>
                </a:solidFill>
                <a:latin typeface="Aptos"/>
                <a:ea typeface="Aptos"/>
                <a:cs typeface="Aptos"/>
              </a:rPr>
              <a:t>The README flow has the right control points: browser extension, detection engine, risk scoring, Supabase persistence, and dashboard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06526-BB88-40C7-AA1C-F96436D0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16573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F"/>
          </a:solidFill>
          <a:ln xmlns:a="http://schemas.openxmlformats.org/drawingml/2006/main" w="9525">
            <a:solidFill>
              <a:srgbClr val="6AA9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F4848-ACB4-45DD-85BD-8BB390BE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Browser extension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Manifest V3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D0641-D84A-48E8-82A0-B8EEF402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147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2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532F9-C0D5-4A05-B4F0-0444A00E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00375"/>
            <a:ext cx="16573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F"/>
          </a:solidFill>
          <a:ln xmlns:a="http://schemas.openxmlformats.org/drawingml/2006/main" w="9525">
            <a:solidFill>
              <a:srgbClr val="F4B8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13183-2F66-4154-9722-D0A99D87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33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Detection engine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Keys, emails, phones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8B62B-87B9-44A2-B2E0-4F7809EE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147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2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BFC33-51D9-4B9C-B4FC-C13361CE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00375"/>
            <a:ext cx="16573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F"/>
          </a:solidFill>
          <a:ln xmlns:a="http://schemas.openxmlformats.org/drawingml/2006/main" w="9525">
            <a:solidFill>
              <a:srgbClr val="53D18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1896C-F58E-4FD1-8600-9B13AD07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33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 scoring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Severity +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8DC77-342B-4442-BA08-17B67F50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5147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2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1EAB0-6E94-4322-9830-4EA37515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00375"/>
            <a:ext cx="16573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F"/>
          </a:solidFill>
          <a:ln xmlns:a="http://schemas.openxmlformats.org/drawingml/2006/main" w="9525">
            <a:solidFill>
              <a:srgbClr val="A48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EC8BC-EF45-4508-9F11-A958C0DA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33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Supabase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Incidents + analytics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58E91E-9261-4D84-91BB-F38DF8B6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5147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2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D0BA7-6C83-4F2E-9EE1-B162D99A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00375"/>
            <a:ext cx="16573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F"/>
          </a:solidFill>
          <a:ln xmlns:a="http://schemas.openxmlformats.org/drawingml/2006/main" w="9525">
            <a:solidFill>
              <a:srgbClr val="FF6B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150B6-4DDA-43EA-A76E-9538049E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133725"/>
            <a:ext cx="1352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VEIL dashboard</a:t>
            </a:r>
          </a:p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SecOps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B03B2-3B19-47DA-A9EA-6B06EE83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5300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8"/>
          </a:solidFill>
          <a:ln xmlns:a="http://schemas.openxmlformats.org/drawingml/2006/main" w="9525">
            <a:solidFill>
              <a:srgbClr val="53D18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EA957-774A-41CC-AC58-68F49CA6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7219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Enterprise readiness gap to close next</a:t>
            </a:r>
          </a:p>
          <a:p xmlns:a="http://schemas.openxmlformats.org/drawingml/2006/main">
            <a:pPr algn="l">
              <a:defRPr sz="135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Policy engine, role-based access, SSO, alert routing, audit exports.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7A139-0CD9-4996-B868-C6EEAFB2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7908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79087"/>
                </a:solidFill>
                <a:latin typeface="Aptos"/>
                <a:ea typeface="Aptos"/>
                <a:cs typeface="Aptos"/>
              </a:rPr>
              <a:t>README architecture and tech stack: Next.js 15, TypeScript, Tailwind, Supabase, Vercel, Chrome extension Manifest V3.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D75196-9F66-486D-B358-C6BC1C03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7908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7908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179709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1D6BC4-DAD0-4604-919D-BEBFDE69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ADDA06FA-39BB-41F7-B795-6F898F0D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EA4E99F7-C1DD-42A8-9D0F-AB15B884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LAUNCH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DAE5E-BAFE-4DDD-9F6C-E1921196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419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01419"/>
                </a:solidFill>
                <a:latin typeface="Aptos Display"/>
                <a:ea typeface="Aptos Display"/>
                <a:cs typeface="Aptos Display"/>
              </a:rPr>
              <a:t>The first 90 days should prove risk reduction, not vanity adoption.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D4BE3-AF9D-4CDE-9630-F9E98B60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B86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B860"/>
                </a:solidFill>
                <a:latin typeface="Aptos"/>
                <a:ea typeface="Aptos"/>
                <a:cs typeface="Aptos"/>
              </a:rPr>
              <a:t>Days 0-30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76230-9617-41F5-8C26-31A55AD7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D47C7-0F77-44BE-AA71-D9B0A61A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25527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Design-partner pilot</a:t>
            </a:r>
          </a:p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Install with 2-3 AI-heavy teams</a:t>
            </a:r>
          </a:p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Baseline risky prompt rate</a:t>
            </a:r>
          </a:p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Tune detection false positives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D54AA6-486B-4F94-8C40-B4418BA3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201C9-57C0-42E4-B4CB-C976A625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14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D18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3D18C"/>
                </a:solidFill>
                <a:latin typeface="Aptos"/>
                <a:ea typeface="Aptos"/>
                <a:cs typeface="Aptos"/>
              </a:rPr>
              <a:t>Days 31-60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F7062-C993-446C-A581-B209A17D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8"/>
          </a:solidFill>
          <a:ln xmlns:a="http://schemas.openxmlformats.org/drawingml/2006/main" w="9525">
            <a:solidFill>
              <a:srgbClr val="53D1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1CADC-F524-4B22-96A3-105CCCB0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05100"/>
            <a:ext cx="25527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Security workflow</a:t>
            </a:r>
          </a:p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Weekly risk report</a:t>
            </a:r>
          </a:p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Incident labels and owners</a:t>
            </a:r>
          </a:p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Sanitization UX improvements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DC0E7-9341-47DA-BA92-F9781B06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530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7E205-8EE8-455D-86DD-6FC1C7FC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AA9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AA9FF"/>
                </a:solidFill>
                <a:latin typeface="Aptos"/>
                <a:ea typeface="Aptos"/>
                <a:cs typeface="Aptos"/>
              </a:rPr>
              <a:t>Days 61-90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0105B-1A9B-464A-AA50-8A3AC786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9525">
            <a:solidFill>
              <a:srgbClr val="D8D0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5158C-F3C5-4174-B010-C7D1C360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05100"/>
            <a:ext cx="25527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Conversion motion</a:t>
            </a:r>
          </a:p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Paid Team offer</a:t>
            </a:r>
          </a:p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Procurement/security packet</a:t>
            </a:r>
          </a:p>
          <a:p xmlns:a="http://schemas.openxmlformats.org/drawingml/2006/main">
            <a:pPr algn="l">
              <a:defRPr sz="127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Roadmap: SSO + DLP policies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1D72B-922B-448C-8F6D-B9789CF2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9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99144-0D0E-4CDE-9847-22BEA321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43550"/>
            <a:ext cx="7572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North-star pilot metric: sensitive prompt attempts prevented per 100 protected users.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E8D8B-4174-438E-B6DA-6047BD65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5807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58071"/>
                </a:solidFill>
                <a:latin typeface="Aptos"/>
                <a:ea typeface="Aptos"/>
                <a:cs typeface="Aptos"/>
              </a:rPr>
              <a:t>No live traction is published; launch metrics are recommended pilot KPIs for VEIL.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5FC10D-B007-4349-A147-F7AD397C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07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47852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4EB694-B67F-4B0B-A66C-EBA4299E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5C37E9F3-56CF-4B8E-8B36-7A681207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74F619E9-340F-426E-BA6A-0455B530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66FC6-ADB1-4FD2-9F12-CDAD18C5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419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01419"/>
                </a:solidFill>
                <a:latin typeface="Aptos Display"/>
                <a:ea typeface="Aptos Display"/>
                <a:cs typeface="Aptos Display"/>
              </a:rPr>
              <a:t>The roadmap turns a Chrome wedge into an AI governance platform.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29EA5-C04C-496F-B54B-AA0D2816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933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D4470-40D3-4709-80DE-122B6F81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90850"/>
            <a:ext cx="3619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6E2FD-B061-4664-A1AF-32BC821F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812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5D208-E4CB-4313-BCCA-D80CD9AD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67125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8"/>
          </a:solidFill>
          <a:ln xmlns:a="http://schemas.openxmlformats.org/drawingml/2006/main" w="9525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A5E8A-A221-4EFD-9AC7-758104A3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0475"/>
            <a:ext cx="1504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Prompt DLP</a:t>
            </a:r>
          </a:p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Chrome extension</a:t>
            </a:r>
          </a:p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Detection</a:t>
            </a:r>
          </a:p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Risk scoring</a:t>
            </a:r>
          </a:p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C4798-004D-43C8-8764-23B85326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90850"/>
            <a:ext cx="3619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A0D9A-3488-4420-B3D9-34794C5B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812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95DDD-7526-469F-A904-73016C10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67125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9525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6D181-01F9-4EF3-8FB9-DF164F54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0475"/>
            <a:ext cx="1504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Workflow</a:t>
            </a:r>
          </a:p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Slack + Teams</a:t>
            </a:r>
          </a:p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Incident routing</a:t>
            </a:r>
          </a:p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Policy exceptions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1F693D-8943-4F62-9781-14299667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90850"/>
            <a:ext cx="3619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0FB39B-7118-4C18-99BC-B5DD622B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812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93F02-77ED-4F20-BE1B-8422C3AD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67125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9525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283354-7F06-40AF-9F50-F7E24D00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0475"/>
            <a:ext cx="1504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Governance</a:t>
            </a:r>
          </a:p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SSO</a:t>
            </a:r>
          </a:p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DLP policies</a:t>
            </a:r>
          </a:p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Compliance reporting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6E3E6-1FD1-4BEA-A615-3C72CB70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90850"/>
            <a:ext cx="3619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B34DB-795C-459C-B5A4-BF3993A2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812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756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F756F"/>
                </a:solidFill>
                <a:latin typeface="Aptos"/>
                <a:ea typeface="Aptos"/>
                <a:cs typeface="Aptos"/>
              </a:rPr>
              <a:t>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69C47-FC46-44EF-88C6-3C6F4109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67125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8"/>
          </a:solidFill>
          <a:ln xmlns:a="http://schemas.openxmlformats.org/drawingml/2006/main" w="9525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85FCB-46D6-4F2A-8C8C-8E5DE82D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00475"/>
            <a:ext cx="1504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AI controls</a:t>
            </a:r>
          </a:p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AI governance controls</a:t>
            </a:r>
          </a:p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Model/tool policy</a:t>
            </a:r>
          </a:p>
          <a:p xmlns:a="http://schemas.openxmlformats.org/drawingml/2006/main">
            <a:pPr algn="l">
              <a:defRPr sz="1200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Executive risk trends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BBF583-262E-4EB6-86FE-E77A840E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58071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58071"/>
                </a:solidFill>
                <a:latin typeface="Aptos"/>
                <a:ea typeface="Aptos"/>
                <a:cs typeface="Aptos"/>
              </a:rPr>
              <a:t>Roadmap items from VEIL README: Slack, Teams, Enterprise SSO, DLP policies, AI governance controls, compliance reporting.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1F80E-ED7F-4F2C-8799-775FF6D6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5807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5807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84957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621485-F9B9-4A8D-A0E6-56C33838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755C79A7-8C15-479F-ACFB-DECBE585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D1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5E5D0F7E-036E-4211-844E-088721DE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EB9A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EB9AE"/>
                </a:solidFill>
                <a:latin typeface="Aptos"/>
                <a:ea typeface="Aptos"/>
                <a:cs typeface="Aptos"/>
              </a:rPr>
              <a:t>NEXT MOVE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BFB0D-09BE-40F0-92B5-3D48EA0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ask is to validate risk signal quality and buyer willingness.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817B1-E736-44CD-99A6-A8413A12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9A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9AE"/>
                </a:solidFill>
                <a:latin typeface="Aptos"/>
                <a:ea typeface="Aptos"/>
                <a:cs typeface="Aptos"/>
              </a:rPr>
              <a:t>VEIL is ready for design partners who already have AI usage, data-leak concerns, and enough security maturity to value incident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4BB74-FB43-4592-B183-40EB8DCC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7813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8"/>
          </a:solidFill>
          <a:ln xmlns:a="http://schemas.openxmlformats.org/drawingml/2006/main" w="9525">
            <a:solidFill>
              <a:srgbClr val="53D1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667FE-427F-4B42-92D9-A60B1CD9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Design partners</a:t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5 teams</a:t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AI-heavy workflows</a:t>
            </a:r>
          </a:p>
          <a:p xmlns:a="http://schemas.openxmlformats.org/drawingml/2006/main">
            <a:pPr algn="l">
              <a:defRPr sz="1425" b="1">
                <a:solidFill>
                  <a:srgbClr val="1014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419"/>
                </a:solidFill>
                <a:latin typeface="Aptos"/>
                <a:ea typeface="Aptos"/>
                <a:cs typeface="Aptos"/>
              </a:rPr>
              <a:t>Weekly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36495-8BCF-4E50-9D21-445EED13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28950"/>
            <a:ext cx="27813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F"/>
          </a:solidFill>
          <a:ln xmlns:a="http://schemas.openxmlformats.org/drawingml/2006/main" w="9525">
            <a:solidFill>
              <a:srgbClr val="38403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B1E6D-1D96-4196-8101-C7C236C5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623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 proof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Risk-score precision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False-positive rate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Prevented exposure 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202C0-C5AA-421B-8C6A-38698AF0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28950"/>
            <a:ext cx="27813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82F"/>
          </a:solidFill>
          <a:ln xmlns:a="http://schemas.openxmlformats.org/drawingml/2006/main" w="9525">
            <a:solidFill>
              <a:srgbClr val="3840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6BB73-865C-4B63-940F-A0C8943A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623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Commercial proof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Team-plan conversion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Procurement blockers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Enterprise feature priority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FC17E-89B1-4EBA-BAD7-847BB43C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91125"/>
            <a:ext cx="9639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0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5F644-BBDA-4D83-8320-FF314888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48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Decision-ready milestone: demonstrate fewer risky prompt submissions after VEIL warnings and enough incident value for a paid Team rollout.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49DCB-E4D6-4EEC-B0AB-48E4547D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79087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79087"/>
                </a:solidFill>
                <a:latin typeface="Aptos"/>
                <a:ea typeface="Aptos"/>
                <a:cs typeface="Aptos"/>
              </a:rPr>
              <a:t>Ask and milestones are GTM recommendations derived from current product surface and missing proof inputs.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72B75-AAAC-4CAA-96E7-0918F7AB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7908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7908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8280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2026-06-13T10:20:46.8310000Z</dcterms:created>
  <dcterms:modified xsi:type="dcterms:W3CDTF">2026-06-13T10:20:46.8310000Z</dcterms:modified>
</coreProperties>
</file>